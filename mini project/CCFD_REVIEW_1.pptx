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</p:sldIdLst>
  <p:sldSz cx="18288000" cy="10287000"/>
  <p:notesSz cx="6858000" cy="9144000"/>
  <p:embeddedFontLst>
    <p:embeddedFont>
      <p:font typeface="Cormorant Garamond Bold Italics" panose="020B060402020202020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Quicksand Bold" panose="020B0604020202020204" charset="0"/>
      <p:regular r:id="rId15"/>
    </p:embeddedFont>
    <p:embeddedFont>
      <p:font typeface="Quicksan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3764" y="2687892"/>
            <a:ext cx="16229942" cy="2946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2"/>
              </a:lnSpc>
            </a:pPr>
            <a:r>
              <a:rPr lang="en-US" sz="848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Credit Card Fraud</a:t>
            </a:r>
          </a:p>
          <a:p>
            <a:pPr marL="0" lvl="0" indent="0" algn="ctr">
              <a:lnSpc>
                <a:spcPts val="11872"/>
              </a:lnSpc>
              <a:spcBef>
                <a:spcPct val="0"/>
              </a:spcBef>
            </a:pPr>
            <a:r>
              <a:rPr lang="en-US" sz="848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Detection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37539" y="5908475"/>
            <a:ext cx="12812922" cy="83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Using Machine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49752" y="7032069"/>
            <a:ext cx="6988496" cy="525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29 April, 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22179" y="1967581"/>
            <a:ext cx="11643643" cy="529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Review - I</a:t>
            </a:r>
          </a:p>
        </p:txBody>
      </p:sp>
      <p:sp>
        <p:nvSpPr>
          <p:cNvPr id="9" name="Freeform 9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3786"/>
            <a:ext cx="18288000" cy="2476500"/>
            <a:chOff x="0" y="0"/>
            <a:chExt cx="4816593" cy="1079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858000" y="964528"/>
            <a:ext cx="991496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Team Members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33800" y="4883568"/>
            <a:ext cx="7402288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3600" b="1" dirty="0" smtClean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2. Shreya </a:t>
            </a:r>
            <a:r>
              <a:rPr lang="en-US" sz="3600" b="1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Prabhu</a:t>
            </a:r>
            <a:endParaRPr lang="en-US" sz="3600" b="1" dirty="0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086600" y="4959572"/>
            <a:ext cx="740228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36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24AML04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72000" y="6243563"/>
            <a:ext cx="7402288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3600" b="1" dirty="0" smtClean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 </a:t>
            </a:r>
            <a:r>
              <a:rPr lang="en-US" sz="3600" b="1" dirty="0" err="1" smtClean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Mahamutha</a:t>
            </a:r>
            <a:r>
              <a:rPr lang="en-US" sz="3600" b="1" dirty="0" smtClean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3600" b="1" dirty="0" err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Femina</a:t>
            </a:r>
            <a:r>
              <a:rPr lang="en-US" sz="360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63000" y="6275622"/>
            <a:ext cx="740228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36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24AML03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48000" y="3702729"/>
            <a:ext cx="7402288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3600" b="1" dirty="0" smtClean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 </a:t>
            </a:r>
            <a:r>
              <a:rPr lang="en-US" sz="3600" b="1" dirty="0" err="1" smtClean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Preethi</a:t>
            </a:r>
            <a:r>
              <a:rPr lang="en-US" sz="3600" b="1" dirty="0" smtClean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3600" b="1" dirty="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18053" y="3759037"/>
            <a:ext cx="740228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3600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23AM048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789024" y="78867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8303999" y="85725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2837" y="3760825"/>
            <a:ext cx="14594399" cy="3774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288" lvl="1" indent="-318644" algn="l">
              <a:lnSpc>
                <a:spcPts val="5018"/>
              </a:lnSpc>
              <a:buFont typeface="Arial"/>
              <a:buChar char="•"/>
            </a:pPr>
            <a:r>
              <a:rPr lang="en-US" sz="295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What</a:t>
            </a:r>
            <a:r>
              <a:rPr lang="en-US" sz="295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</a:t>
            </a:r>
          </a:p>
          <a:p>
            <a:pPr algn="l">
              <a:lnSpc>
                <a:spcPts val="5364"/>
              </a:lnSpc>
            </a:pPr>
            <a:r>
              <a:rPr lang="en-US" sz="3155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     </a:t>
            </a:r>
            <a:r>
              <a:rPr lang="en-US" sz="3155" i="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"Detect fraudulent transactions in real-time to reduce financial los  losses."</a:t>
            </a:r>
          </a:p>
          <a:p>
            <a:pPr marL="637288" lvl="1" indent="-318644" algn="l">
              <a:lnSpc>
                <a:spcPts val="5018"/>
              </a:lnSpc>
              <a:buFont typeface="Arial"/>
              <a:buChar char="•"/>
            </a:pPr>
            <a:r>
              <a:rPr lang="en-US" sz="295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Why It Matters</a:t>
            </a:r>
            <a:r>
              <a:rPr lang="en-US" sz="295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</a:t>
            </a:r>
          </a:p>
          <a:p>
            <a:pPr marL="1274576" lvl="2" indent="-424859" algn="l">
              <a:lnSpc>
                <a:spcPts val="5018"/>
              </a:lnSpc>
              <a:buFont typeface="Arial"/>
              <a:buChar char="⚬"/>
            </a:pPr>
            <a:r>
              <a:rPr lang="en-US" sz="295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Fraud costs billions annually.</a:t>
            </a:r>
          </a:p>
          <a:p>
            <a:pPr marL="1274576" lvl="2" indent="-424859" algn="l">
              <a:lnSpc>
                <a:spcPts val="5018"/>
              </a:lnSpc>
              <a:buFont typeface="Arial"/>
              <a:buChar char="⚬"/>
            </a:pPr>
            <a:r>
              <a:rPr lang="en-US" sz="295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Protects banks and customers.</a:t>
            </a:r>
          </a:p>
          <a:p>
            <a:pPr marL="637288" lvl="1" indent="-318644" algn="l">
              <a:lnSpc>
                <a:spcPts val="5018"/>
              </a:lnSpc>
              <a:buFont typeface="Arial"/>
              <a:buChar char="•"/>
            </a:pPr>
            <a:r>
              <a:rPr lang="en-US" sz="295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Dataset</a:t>
            </a:r>
            <a:r>
              <a:rPr lang="en-US" sz="295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 Kaggle (284k transactions, 0.17% fraud).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973981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5897880" y="8465242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8304001" y="205224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99709"/>
            <a:ext cx="8048163" cy="108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Problem Statement</a:t>
            </a:r>
          </a:p>
        </p:txBody>
      </p:sp>
      <p:sp>
        <p:nvSpPr>
          <p:cNvPr id="7" name="Freeform 7"/>
          <p:cNvSpPr/>
          <p:nvPr/>
        </p:nvSpPr>
        <p:spPr>
          <a:xfrm>
            <a:off x="8304001" y="8846242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93893" y="15849"/>
            <a:ext cx="4194107" cy="10271151"/>
            <a:chOff x="0" y="0"/>
            <a:chExt cx="1104621" cy="2705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28486" y="1684924"/>
            <a:ext cx="6330814" cy="7573376"/>
            <a:chOff x="0" y="0"/>
            <a:chExt cx="8441085" cy="10097834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22186" r="22186"/>
            <a:stretch>
              <a:fillRect/>
            </a:stretch>
          </p:blipFill>
          <p:spPr>
            <a:xfrm>
              <a:off x="0" y="0"/>
              <a:ext cx="8441085" cy="10097834"/>
            </a:xfrm>
            <a:prstGeom prst="rect">
              <a:avLst/>
            </a:prstGeom>
          </p:spPr>
        </p:pic>
      </p:grpSp>
      <p:sp>
        <p:nvSpPr>
          <p:cNvPr id="7" name="Freeform 7"/>
          <p:cNvSpPr/>
          <p:nvPr/>
        </p:nvSpPr>
        <p:spPr>
          <a:xfrm>
            <a:off x="1028700" y="8974931"/>
            <a:ext cx="1905000" cy="283369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599709"/>
            <a:ext cx="939024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Background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91293"/>
            <a:ext cx="8115300" cy="4145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6080" lvl="1" indent="-303040" algn="l">
              <a:lnSpc>
                <a:spcPts val="4772"/>
              </a:lnSpc>
              <a:buFont typeface="Arial"/>
              <a:buChar char="•"/>
            </a:pPr>
            <a:r>
              <a:rPr lang="en-US" sz="2807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Key Stats</a:t>
            </a:r>
            <a:r>
              <a:rPr lang="en-US" sz="280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</a:t>
            </a:r>
          </a:p>
          <a:p>
            <a:pPr marL="1212161" lvl="2" indent="-404054" algn="l">
              <a:lnSpc>
                <a:spcPts val="4772"/>
              </a:lnSpc>
              <a:buFont typeface="Arial"/>
              <a:buChar char="⚬"/>
            </a:pPr>
            <a:r>
              <a:rPr lang="en-US" sz="280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492 frauds, 284k valid transactions.</a:t>
            </a:r>
          </a:p>
          <a:p>
            <a:pPr marL="1212161" lvl="2" indent="-404054" algn="l">
              <a:lnSpc>
                <a:spcPts val="4772"/>
              </a:lnSpc>
              <a:buFont typeface="Arial"/>
              <a:buChar char="⚬"/>
            </a:pPr>
            <a:r>
              <a:rPr lang="en-US" sz="280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Features: Time, Amount, V1-V28 (PCA).</a:t>
            </a:r>
          </a:p>
          <a:p>
            <a:pPr marL="606080" lvl="1" indent="-303040" algn="l">
              <a:lnSpc>
                <a:spcPts val="4772"/>
              </a:lnSpc>
              <a:buFont typeface="Arial"/>
              <a:buChar char="•"/>
            </a:pPr>
            <a:r>
              <a:rPr lang="en-US" sz="2807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Visual</a:t>
            </a:r>
            <a:r>
              <a:rPr lang="en-US" sz="280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 Class imbalance bar chart (use sns.countplot).</a:t>
            </a:r>
          </a:p>
          <a:p>
            <a:pPr marL="606080" lvl="1" indent="-303040" algn="l">
              <a:lnSpc>
                <a:spcPts val="4772"/>
              </a:lnSpc>
              <a:buFont typeface="Arial"/>
              <a:buChar char="•"/>
            </a:pPr>
            <a:r>
              <a:rPr lang="en-US" sz="2807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Insight</a:t>
            </a:r>
            <a:r>
              <a:rPr lang="en-US" sz="2807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 Fraudulent transactions have higher average amounts.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832709"/>
            <a:ext cx="8115300" cy="55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85"/>
              </a:lnSpc>
              <a:spcBef>
                <a:spcPct val="0"/>
              </a:spcBef>
            </a:pPr>
            <a:r>
              <a:rPr lang="en-US" sz="3275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Dataset &amp; EDA </a:t>
            </a:r>
            <a:r>
              <a:rPr lang="en-US" sz="3275" b="1" i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(Combine stats + visuals)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13899" y="4099272"/>
            <a:ext cx="4210757" cy="3273864"/>
          </a:xfrm>
          <a:custGeom>
            <a:avLst/>
            <a:gdLst/>
            <a:ahLst/>
            <a:cxnLst/>
            <a:rect l="l" t="t" r="r" b="b"/>
            <a:pathLst>
              <a:path w="4210757" h="3273864">
                <a:moveTo>
                  <a:pt x="0" y="0"/>
                </a:moveTo>
                <a:lnTo>
                  <a:pt x="4210757" y="0"/>
                </a:lnTo>
                <a:lnTo>
                  <a:pt x="4210757" y="3273864"/>
                </a:lnTo>
                <a:lnTo>
                  <a:pt x="0" y="3273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2027699" y="5114925"/>
            <a:ext cx="4344915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2072549" y="6499569"/>
            <a:ext cx="4346753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854186" y="7274853"/>
            <a:ext cx="4716390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24384" y="1415846"/>
            <a:ext cx="14072064" cy="108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Literature Survey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2346" y="3758406"/>
            <a:ext cx="5348229" cy="98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 Random Forest + SMOTE: 99% recall (IEEE 2022)..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11071" y="4981575"/>
            <a:ext cx="5348229" cy="98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 Autoencoders: Reduced false positives (ACM 2021)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4939" y="5669529"/>
            <a:ext cx="5352545" cy="98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2. Isolation Forest: Better for imbalanced data (arXiv 2023)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4384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2050" y="1994199"/>
            <a:ext cx="7393399" cy="7785423"/>
            <a:chOff x="0" y="0"/>
            <a:chExt cx="1947233" cy="20504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7232" cy="2050482"/>
            </a:xfrm>
            <a:custGeom>
              <a:avLst/>
              <a:gdLst/>
              <a:ahLst/>
              <a:cxnLst/>
              <a:rect l="l" t="t" r="r" b="b"/>
              <a:pathLst>
                <a:path w="1947232" h="2050482">
                  <a:moveTo>
                    <a:pt x="53404" y="0"/>
                  </a:moveTo>
                  <a:lnTo>
                    <a:pt x="1893828" y="0"/>
                  </a:lnTo>
                  <a:cubicBezTo>
                    <a:pt x="1907992" y="0"/>
                    <a:pt x="1921576" y="5626"/>
                    <a:pt x="1931591" y="15642"/>
                  </a:cubicBezTo>
                  <a:cubicBezTo>
                    <a:pt x="1941606" y="25657"/>
                    <a:pt x="1947232" y="39240"/>
                    <a:pt x="1947232" y="53404"/>
                  </a:cubicBezTo>
                  <a:lnTo>
                    <a:pt x="1947232" y="1997078"/>
                  </a:lnTo>
                  <a:cubicBezTo>
                    <a:pt x="1947232" y="2026572"/>
                    <a:pt x="1923323" y="2050482"/>
                    <a:pt x="1893828" y="2050482"/>
                  </a:cubicBezTo>
                  <a:lnTo>
                    <a:pt x="53404" y="2050482"/>
                  </a:lnTo>
                  <a:cubicBezTo>
                    <a:pt x="23910" y="2050482"/>
                    <a:pt x="0" y="2026572"/>
                    <a:pt x="0" y="1997078"/>
                  </a:cubicBezTo>
                  <a:lnTo>
                    <a:pt x="0" y="53404"/>
                  </a:lnTo>
                  <a:cubicBezTo>
                    <a:pt x="0" y="23910"/>
                    <a:pt x="23910" y="0"/>
                    <a:pt x="53404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947233" cy="2174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125164" y="2318825"/>
            <a:ext cx="1543371" cy="1543371"/>
          </a:xfrm>
          <a:custGeom>
            <a:avLst/>
            <a:gdLst/>
            <a:ahLst/>
            <a:cxnLst/>
            <a:rect l="l" t="t" r="r" b="b"/>
            <a:pathLst>
              <a:path w="1543371" h="1543371">
                <a:moveTo>
                  <a:pt x="0" y="0"/>
                </a:moveTo>
                <a:lnTo>
                  <a:pt x="1543371" y="0"/>
                </a:lnTo>
                <a:lnTo>
                  <a:pt x="1543371" y="1543371"/>
                </a:lnTo>
                <a:lnTo>
                  <a:pt x="0" y="15433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792757" y="1994199"/>
            <a:ext cx="7514666" cy="7785423"/>
            <a:chOff x="0" y="0"/>
            <a:chExt cx="1633754" cy="16926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33754" cy="1692619"/>
            </a:xfrm>
            <a:custGeom>
              <a:avLst/>
              <a:gdLst/>
              <a:ahLst/>
              <a:cxnLst/>
              <a:rect l="l" t="t" r="r" b="b"/>
              <a:pathLst>
                <a:path w="1633754" h="1692619">
                  <a:moveTo>
                    <a:pt x="52542" y="0"/>
                  </a:moveTo>
                  <a:lnTo>
                    <a:pt x="1581212" y="0"/>
                  </a:lnTo>
                  <a:cubicBezTo>
                    <a:pt x="1610230" y="0"/>
                    <a:pt x="1633754" y="23524"/>
                    <a:pt x="1633754" y="52542"/>
                  </a:cubicBezTo>
                  <a:lnTo>
                    <a:pt x="1633754" y="1640077"/>
                  </a:lnTo>
                  <a:cubicBezTo>
                    <a:pt x="1633754" y="1654012"/>
                    <a:pt x="1628219" y="1667377"/>
                    <a:pt x="1618365" y="1677230"/>
                  </a:cubicBezTo>
                  <a:cubicBezTo>
                    <a:pt x="1608512" y="1687084"/>
                    <a:pt x="1595147" y="1692619"/>
                    <a:pt x="1581212" y="1692619"/>
                  </a:cubicBezTo>
                  <a:lnTo>
                    <a:pt x="52542" y="1692619"/>
                  </a:lnTo>
                  <a:cubicBezTo>
                    <a:pt x="23524" y="1692619"/>
                    <a:pt x="0" y="1669095"/>
                    <a:pt x="0" y="1640077"/>
                  </a:cubicBezTo>
                  <a:lnTo>
                    <a:pt x="0" y="52542"/>
                  </a:lnTo>
                  <a:cubicBezTo>
                    <a:pt x="0" y="38607"/>
                    <a:pt x="5536" y="25243"/>
                    <a:pt x="15389" y="15389"/>
                  </a:cubicBezTo>
                  <a:cubicBezTo>
                    <a:pt x="25243" y="5536"/>
                    <a:pt x="38607" y="0"/>
                    <a:pt x="52542" y="0"/>
                  </a:cubicBezTo>
                  <a:close/>
                </a:path>
              </a:pathLst>
            </a:custGeom>
            <a:solidFill>
              <a:srgbClr val="A9BEC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23825"/>
              <a:ext cx="1633754" cy="1816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582876" y="2318825"/>
            <a:ext cx="1590531" cy="1611035"/>
          </a:xfrm>
          <a:custGeom>
            <a:avLst/>
            <a:gdLst/>
            <a:ahLst/>
            <a:cxnLst/>
            <a:rect l="l" t="t" r="r" b="b"/>
            <a:pathLst>
              <a:path w="1590531" h="1611035">
                <a:moveTo>
                  <a:pt x="0" y="0"/>
                </a:moveTo>
                <a:lnTo>
                  <a:pt x="1590532" y="0"/>
                </a:lnTo>
                <a:lnTo>
                  <a:pt x="1590532" y="1611035"/>
                </a:lnTo>
                <a:lnTo>
                  <a:pt x="0" y="1611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609234"/>
            <a:ext cx="6910617" cy="2862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544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Root Causes &amp; Solutions</a:t>
            </a:r>
          </a:p>
          <a:p>
            <a:pPr algn="l">
              <a:lnSpc>
                <a:spcPts val="7629"/>
              </a:lnSpc>
            </a:pPr>
            <a:endParaRPr lang="en-US" sz="5449" b="1" i="1">
              <a:solidFill>
                <a:srgbClr val="0F466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  <a:p>
            <a:pPr marL="0" lvl="0" indent="0" algn="l">
              <a:lnSpc>
                <a:spcPts val="7629"/>
              </a:lnSpc>
              <a:spcBef>
                <a:spcPct val="0"/>
              </a:spcBef>
            </a:pPr>
            <a:endParaRPr lang="en-US" sz="5449" b="1" i="1">
              <a:solidFill>
                <a:srgbClr val="0F4662"/>
              </a:solidFill>
              <a:latin typeface="Cormorant Garamond Bold Italics"/>
              <a:ea typeface="Cormorant Garamond Bold Italics"/>
              <a:cs typeface="Cormorant Garamond Bold Italics"/>
              <a:sym typeface="Cormorant Garamond Bold Itali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193675" y="5019675"/>
            <a:ext cx="5570601" cy="388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4"/>
              </a:lnSpc>
            </a:pPr>
            <a:endParaRPr/>
          </a:p>
          <a:p>
            <a:pPr marL="565764" lvl="1" indent="-282882" algn="l">
              <a:lnSpc>
                <a:spcPts val="4454"/>
              </a:lnSpc>
              <a:buFont typeface="Arial"/>
              <a:buChar char="•"/>
            </a:pPr>
            <a:r>
              <a:rPr lang="en-US" sz="2620" u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Class Imbalance: Fraud = 0.1% of transactions</a:t>
            </a:r>
          </a:p>
          <a:p>
            <a:pPr marL="565764" lvl="1" indent="-282882" algn="l">
              <a:lnSpc>
                <a:spcPts val="4454"/>
              </a:lnSpc>
              <a:buFont typeface="Arial"/>
              <a:buChar char="•"/>
            </a:pPr>
            <a:r>
              <a:rPr lang="en-US" sz="2620" u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Model Bias: Favors majority class (genuine transactions)</a:t>
            </a:r>
          </a:p>
          <a:p>
            <a:pPr marL="565764" lvl="1" indent="-282882" algn="l">
              <a:lnSpc>
                <a:spcPts val="4454"/>
              </a:lnSpc>
              <a:buFont typeface="Arial"/>
              <a:buChar char="•"/>
            </a:pPr>
            <a:r>
              <a:rPr lang="en-US" sz="2620" u="none" strike="noStrik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Threshold Issue: Default 0.5 too high for rare fraud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70828" y="4325640"/>
            <a:ext cx="569344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Why Our Model Misses Fraud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49775" y="5522510"/>
            <a:ext cx="6600630" cy="3388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4937" lvl="1" indent="-287469" algn="l">
              <a:lnSpc>
                <a:spcPts val="4527"/>
              </a:lnSpc>
              <a:buFont typeface="Arial"/>
              <a:buChar char="•"/>
            </a:pPr>
            <a:r>
              <a:rPr lang="en-US" sz="266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✔ Resampling: SMOTE for balanced data</a:t>
            </a:r>
          </a:p>
          <a:p>
            <a:pPr marL="574937" lvl="1" indent="-287469" algn="l">
              <a:lnSpc>
                <a:spcPts val="4527"/>
              </a:lnSpc>
              <a:buFont typeface="Arial"/>
              <a:buChar char="•"/>
            </a:pPr>
            <a:r>
              <a:rPr lang="en-US" sz="266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✔ Class Weights: 10x penalty for false negatives</a:t>
            </a:r>
          </a:p>
          <a:p>
            <a:pPr marL="574937" lvl="1" indent="-287469" algn="l">
              <a:lnSpc>
                <a:spcPts val="4527"/>
              </a:lnSpc>
              <a:buFont typeface="Arial"/>
              <a:buChar char="•"/>
            </a:pPr>
            <a:r>
              <a:rPr lang="en-US" sz="266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✔ Threshold Tuning: Lower to 0.3</a:t>
            </a:r>
          </a:p>
          <a:p>
            <a:pPr marL="574937" lvl="1" indent="-287469" algn="l">
              <a:lnSpc>
                <a:spcPts val="4527"/>
              </a:lnSpc>
              <a:buFont typeface="Arial"/>
              <a:buChar char="•"/>
            </a:pPr>
            <a:r>
              <a:rPr lang="en-US" sz="266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✔ New Models: Test Isolation Forest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865" y="4170436"/>
            <a:ext cx="6180554" cy="1180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48"/>
              </a:lnSpc>
              <a:spcBef>
                <a:spcPct val="0"/>
              </a:spcBef>
            </a:pPr>
            <a:r>
              <a:rPr lang="en-US" sz="3391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Action Plan to Reduce False Negatives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redit Card Fraud Detection Dataset 20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11" y="1974202"/>
            <a:ext cx="6798193" cy="6798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4"/>
          <p:cNvGrpSpPr/>
          <p:nvPr/>
        </p:nvGrpSpPr>
        <p:grpSpPr>
          <a:xfrm>
            <a:off x="8449761" y="0"/>
            <a:ext cx="9838239" cy="10287000"/>
            <a:chOff x="0" y="0"/>
            <a:chExt cx="2591141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599709"/>
            <a:ext cx="948074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Expected Outcomes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52617" y="2895721"/>
            <a:ext cx="10582140" cy="185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091" lvl="1" indent="-318546" algn="l">
              <a:lnSpc>
                <a:spcPts val="5016"/>
              </a:lnSpc>
              <a:buFont typeface="Arial"/>
              <a:buChar char="•"/>
            </a:pPr>
            <a:r>
              <a:rPr lang="en-US" sz="295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Recall: 0.75 → 0.92 (target).</a:t>
            </a:r>
          </a:p>
          <a:p>
            <a:pPr marL="637091" lvl="1" indent="-318546" algn="l">
              <a:lnSpc>
                <a:spcPts val="5016"/>
              </a:lnSpc>
              <a:buFont typeface="Arial"/>
              <a:buChar char="•"/>
            </a:pPr>
            <a:r>
              <a:rPr lang="en-US" sz="295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False Negatives: 25% → 8%.</a:t>
            </a:r>
          </a:p>
          <a:p>
            <a:pPr algn="l">
              <a:lnSpc>
                <a:spcPts val="5016"/>
              </a:lnSpc>
            </a:pPr>
            <a:endParaRPr lang="en-US" sz="295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652617" y="7571423"/>
            <a:ext cx="10582140" cy="185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091" lvl="1" indent="-318546" algn="l">
              <a:lnSpc>
                <a:spcPts val="5016"/>
              </a:lnSpc>
              <a:buFont typeface="Arial"/>
              <a:buChar char="•"/>
            </a:pPr>
            <a:r>
              <a:rPr lang="en-US" sz="295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A/B test new model on unseen data.</a:t>
            </a:r>
          </a:p>
          <a:p>
            <a:pPr marL="637091" lvl="1" indent="-318546" algn="l">
              <a:lnSpc>
                <a:spcPts val="5016"/>
              </a:lnSpc>
              <a:buFont typeface="Arial"/>
              <a:buChar char="•"/>
            </a:pPr>
            <a:r>
              <a:rPr lang="en-US" sz="295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Monitor real-time performance.</a:t>
            </a:r>
          </a:p>
          <a:p>
            <a:pPr algn="l">
              <a:lnSpc>
                <a:spcPts val="5016"/>
              </a:lnSpc>
            </a:pPr>
            <a:endParaRPr lang="en-US" sz="2950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652617" y="5179153"/>
            <a:ext cx="10582140" cy="1220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7091" lvl="1" indent="-318546" algn="l">
              <a:lnSpc>
                <a:spcPts val="5016"/>
              </a:lnSpc>
              <a:buFont typeface="Arial"/>
              <a:buChar char="•"/>
            </a:pPr>
            <a:r>
              <a:rPr lang="en-US" sz="295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Slight increase in false positives (legit transactions flagged).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52617" y="2038301"/>
            <a:ext cx="10582140" cy="1328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4"/>
              </a:lnSpc>
            </a:pPr>
            <a:r>
              <a:rPr lang="en-US" sz="3244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Projected Metrics:</a:t>
            </a:r>
          </a:p>
          <a:p>
            <a:pPr marL="0" lvl="0" indent="0" algn="l">
              <a:lnSpc>
                <a:spcPts val="5514"/>
              </a:lnSpc>
            </a:pPr>
            <a:endParaRPr lang="en-US" sz="3244" b="1">
              <a:solidFill>
                <a:srgbClr val="0F46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652617" y="6635019"/>
            <a:ext cx="10582140" cy="681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2"/>
              </a:lnSpc>
            </a:pPr>
            <a:r>
              <a:rPr lang="en-US" sz="3442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Next Steps: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52617" y="4596199"/>
            <a:ext cx="10582140" cy="63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14"/>
              </a:lnSpc>
            </a:pPr>
            <a:r>
              <a:rPr lang="en-US" sz="3244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Trade-offs: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28700" y="974152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2710" y="3369664"/>
            <a:ext cx="11402580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290</Words>
  <Application>Microsoft Office PowerPoint</Application>
  <PresentationFormat>Custom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Cormorant Garamond Bold Italics</vt:lpstr>
      <vt:lpstr>Calibri</vt:lpstr>
      <vt:lpstr>Quicksand Bold</vt:lpstr>
      <vt:lpstr>Quicksand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Modern Enhancing Sales Strategy Presentation</dc:title>
  <dc:creator>Athan Tech</dc:creator>
  <cp:lastModifiedBy>Microsoft account</cp:lastModifiedBy>
  <cp:revision>2</cp:revision>
  <dcterms:created xsi:type="dcterms:W3CDTF">2006-08-16T00:00:00Z</dcterms:created>
  <dcterms:modified xsi:type="dcterms:W3CDTF">2025-05-04T16:34:19Z</dcterms:modified>
  <dc:identifier>DAGmN7dZ1Ig</dc:identifier>
</cp:coreProperties>
</file>